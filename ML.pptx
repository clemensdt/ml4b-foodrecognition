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0"/>
  </p:notesMasterIdLst>
  <p:handoutMasterIdLst>
    <p:handoutMasterId r:id="rId11"/>
  </p:handoutMasterIdLst>
  <p:sldIdLst>
    <p:sldId id="538" r:id="rId5"/>
    <p:sldId id="534" r:id="rId6"/>
    <p:sldId id="536" r:id="rId7"/>
    <p:sldId id="535" r:id="rId8"/>
    <p:sldId id="53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hlemann, Sophie" initials="KS" lastIdx="10" clrIdx="0">
    <p:extLst>
      <p:ext uri="{19B8F6BF-5375-455C-9EA6-DF929625EA0E}">
        <p15:presenceInfo xmlns:p15="http://schemas.microsoft.com/office/powerpoint/2012/main" userId="S-1-5-21-2445940274-3546290456-3766068514-3654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16A"/>
    <a:srgbClr val="00000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22A46-F601-6F45-8D0B-BEDC4CA51349}" v="132" dt="2026-06-26T09:04:16.885"/>
    <p1510:client id="{2D09ECB7-FB0D-AA24-0DD5-71CC724D87EA}" v="11" dt="2026-06-25T14:06:38.146"/>
    <p1510:client id="{4FC4FEE5-22FB-988C-452F-63C5FC9B2F11}" v="6" dt="2026-06-26T08:16:55.379"/>
    <p1510:client id="{6B1EFCFF-44F7-C3C9-C3DE-DC1A7D9D7BF9}" v="35" dt="2026-06-26T08:09:50.593"/>
    <p1510:client id="{779DA8A2-23F4-FF82-1BE4-CB1229336F91}" v="12" dt="2026-06-26T08:33:01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13" name="Grafik 3">
            <a:extLst>
              <a:ext uri="{FF2B5EF4-FFF2-40B4-BE49-F238E27FC236}">
                <a16:creationId xmlns:a16="http://schemas.microsoft.com/office/drawing/2014/main" id="{1809E430-A4A0-4F14-BD9A-92AA8E11E120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F6D4EE4-085A-459C-82C9-AF72AB235F3A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D1EFA498-5D6C-4949-A057-45EACB161715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226BEB46-8DDC-4F31-84D5-43C1D428FD87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4E98491-A86C-43A3-8589-BB48949DBB2B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6586E11-2F38-4E90-98CE-782A08295553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67D1AD5-99F8-4263-A1A6-71A982D72E61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F8B1A12-11A7-42FF-8F31-2FFE11ECE0C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5BF2A515-E766-41FF-8C27-C9003567EAC7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7F510EBB-F96A-4861-B8B5-E1218516CEB6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F4C5C431-4D27-4E94-8A72-9F5026A0DB92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C7807AF4-2931-4060-8651-FAE57D3A1697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0A540DAF-3F4A-4E60-AB20-08DE835AAC1F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B740F740-2C9D-4EB2-B492-298181006824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653C23F7-BCC6-448A-B74E-783CC86F6845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1884E293-5900-4629-A460-9B364230A0D1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623F20C0-5C72-4745-BADF-2EB5DE6FD209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81B2BEC0-46F8-4083-986B-0DCD70E8F6DB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A81ACECC-FB3B-4FA3-9E6E-79B4642A0158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39689E31-9B66-44E7-B47F-C666C38FB7EF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E38D45FB-93D8-44DA-AE4F-CA723C7C76CB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F690CF57-2C49-4051-84D6-F1216B22B26E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C1199D-1BE6-423F-ADAC-1B7CBAF1DB91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E7191C5F-FC93-4748-9A11-EDA7A6612882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4361EF3F-FE70-4257-87A6-E598180320B3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6AB41A3-EE45-4F8B-8561-4F2BFDDA1013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3FC3A2DF-C2B1-4B25-B534-F5E1D59A3F0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E566DD13-4817-4C91-96FC-CBC0466BB0D8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821DC2DB-ABD3-4652-A841-4D1E6F29828B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2A137A4D-DCD1-498A-9B30-BA8A264D1628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67736D99-481F-43E1-A439-6D53814FD4AF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4" name="Freihandform: Form 243">
              <a:extLst>
                <a:ext uri="{FF2B5EF4-FFF2-40B4-BE49-F238E27FC236}">
                  <a16:creationId xmlns:a16="http://schemas.microsoft.com/office/drawing/2014/main" id="{05A64505-32AC-4527-AEA0-AB1174EA690E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5" name="Freihandform: Form 244">
              <a:extLst>
                <a:ext uri="{FF2B5EF4-FFF2-40B4-BE49-F238E27FC236}">
                  <a16:creationId xmlns:a16="http://schemas.microsoft.com/office/drawing/2014/main" id="{C65FFDEA-1A26-4BE3-A84A-5A46C9E7B5FE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6" name="Freihandform: Form 245">
              <a:extLst>
                <a:ext uri="{FF2B5EF4-FFF2-40B4-BE49-F238E27FC236}">
                  <a16:creationId xmlns:a16="http://schemas.microsoft.com/office/drawing/2014/main" id="{CFC9BF65-D528-4810-BC56-4CD8988DC0C8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7" name="Freihandform: Form 246">
              <a:extLst>
                <a:ext uri="{FF2B5EF4-FFF2-40B4-BE49-F238E27FC236}">
                  <a16:creationId xmlns:a16="http://schemas.microsoft.com/office/drawing/2014/main" id="{BB62778A-CBC0-461E-B274-DB517F0546E3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8" name="Freihandform: Form 247">
              <a:extLst>
                <a:ext uri="{FF2B5EF4-FFF2-40B4-BE49-F238E27FC236}">
                  <a16:creationId xmlns:a16="http://schemas.microsoft.com/office/drawing/2014/main" id="{337ABDD6-BAFD-497D-BA4B-D32E663BBB9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9" name="Freihandform: Form 248">
              <a:extLst>
                <a:ext uri="{FF2B5EF4-FFF2-40B4-BE49-F238E27FC236}">
                  <a16:creationId xmlns:a16="http://schemas.microsoft.com/office/drawing/2014/main" id="{F912D02F-D665-4FC7-ACBE-AFD64A4892B2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0" name="Freihandform: Form 249">
              <a:extLst>
                <a:ext uri="{FF2B5EF4-FFF2-40B4-BE49-F238E27FC236}">
                  <a16:creationId xmlns:a16="http://schemas.microsoft.com/office/drawing/2014/main" id="{ED3D0B6C-CF30-40F6-9994-049DE2F09E77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1" name="Freihandform: Form 250">
              <a:extLst>
                <a:ext uri="{FF2B5EF4-FFF2-40B4-BE49-F238E27FC236}">
                  <a16:creationId xmlns:a16="http://schemas.microsoft.com/office/drawing/2014/main" id="{2F102745-C89E-4457-AB2E-9882F7EDF638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20B8CF65-3C7E-40C9-9359-73514BB8968F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3" name="Freihandform: Form 252">
              <a:extLst>
                <a:ext uri="{FF2B5EF4-FFF2-40B4-BE49-F238E27FC236}">
                  <a16:creationId xmlns:a16="http://schemas.microsoft.com/office/drawing/2014/main" id="{C90F29F1-CEB1-4699-829E-DC7991CA70DB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4" name="Freihandform: Form 253">
              <a:extLst>
                <a:ext uri="{FF2B5EF4-FFF2-40B4-BE49-F238E27FC236}">
                  <a16:creationId xmlns:a16="http://schemas.microsoft.com/office/drawing/2014/main" id="{2DF19D42-3ABB-4580-B25F-F2837990BD84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5" name="Freihandform: Form 254">
              <a:extLst>
                <a:ext uri="{FF2B5EF4-FFF2-40B4-BE49-F238E27FC236}">
                  <a16:creationId xmlns:a16="http://schemas.microsoft.com/office/drawing/2014/main" id="{E5998662-7726-4AF1-B7A1-4A9F52203D33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6" name="Freihandform: Form 255">
              <a:extLst>
                <a:ext uri="{FF2B5EF4-FFF2-40B4-BE49-F238E27FC236}">
                  <a16:creationId xmlns:a16="http://schemas.microsoft.com/office/drawing/2014/main" id="{2C67B4C5-66E7-4334-907E-BD17FDCA901F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7" name="Freihandform: Form 256">
              <a:extLst>
                <a:ext uri="{FF2B5EF4-FFF2-40B4-BE49-F238E27FC236}">
                  <a16:creationId xmlns:a16="http://schemas.microsoft.com/office/drawing/2014/main" id="{D1D81AEF-2530-4F8A-A1BA-E124FBEB83E3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8" name="Freihandform: Form 257">
              <a:extLst>
                <a:ext uri="{FF2B5EF4-FFF2-40B4-BE49-F238E27FC236}">
                  <a16:creationId xmlns:a16="http://schemas.microsoft.com/office/drawing/2014/main" id="{91616AB2-66B8-4121-A36D-D023DFC7F41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CF224488-73D5-498B-8A6F-E508395322D3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0" name="Freihandform: Form 259">
              <a:extLst>
                <a:ext uri="{FF2B5EF4-FFF2-40B4-BE49-F238E27FC236}">
                  <a16:creationId xmlns:a16="http://schemas.microsoft.com/office/drawing/2014/main" id="{3AE46D25-9359-4619-8055-B59B12C4E131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1" name="Freihandform: Form 260">
              <a:extLst>
                <a:ext uri="{FF2B5EF4-FFF2-40B4-BE49-F238E27FC236}">
                  <a16:creationId xmlns:a16="http://schemas.microsoft.com/office/drawing/2014/main" id="{06F838B5-38CC-47DF-BFBC-AF849845BCE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2" name="Freihandform: Form 261">
              <a:extLst>
                <a:ext uri="{FF2B5EF4-FFF2-40B4-BE49-F238E27FC236}">
                  <a16:creationId xmlns:a16="http://schemas.microsoft.com/office/drawing/2014/main" id="{EFD7FED8-140E-49CE-846B-FEC793083645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3" name="Freihandform: Form 262">
              <a:extLst>
                <a:ext uri="{FF2B5EF4-FFF2-40B4-BE49-F238E27FC236}">
                  <a16:creationId xmlns:a16="http://schemas.microsoft.com/office/drawing/2014/main" id="{A901D558-23E5-4464-8A3C-15F371E6872B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4" name="Freihandform: Form 263">
              <a:extLst>
                <a:ext uri="{FF2B5EF4-FFF2-40B4-BE49-F238E27FC236}">
                  <a16:creationId xmlns:a16="http://schemas.microsoft.com/office/drawing/2014/main" id="{1707B2C4-8F71-403B-9E15-A9883B7C2A1C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5" name="Freihandform: Form 264">
              <a:extLst>
                <a:ext uri="{FF2B5EF4-FFF2-40B4-BE49-F238E27FC236}">
                  <a16:creationId xmlns:a16="http://schemas.microsoft.com/office/drawing/2014/main" id="{3A870182-1564-41CE-9E37-9ABD1DE9A6E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6" name="Freihandform: Form 265">
              <a:extLst>
                <a:ext uri="{FF2B5EF4-FFF2-40B4-BE49-F238E27FC236}">
                  <a16:creationId xmlns:a16="http://schemas.microsoft.com/office/drawing/2014/main" id="{59DBD287-68CC-4F3F-90AB-A995B27E5A9B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7" name="Freihandform: Form 266">
              <a:extLst>
                <a:ext uri="{FF2B5EF4-FFF2-40B4-BE49-F238E27FC236}">
                  <a16:creationId xmlns:a16="http://schemas.microsoft.com/office/drawing/2014/main" id="{B6287DF6-CA02-4DE1-AD71-4BF62EBE6396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8" name="Freihandform: Form 267">
              <a:extLst>
                <a:ext uri="{FF2B5EF4-FFF2-40B4-BE49-F238E27FC236}">
                  <a16:creationId xmlns:a16="http://schemas.microsoft.com/office/drawing/2014/main" id="{A455995B-FF19-4248-94F5-EA453F5182BC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9" name="Freihandform: Form 268">
              <a:extLst>
                <a:ext uri="{FF2B5EF4-FFF2-40B4-BE49-F238E27FC236}">
                  <a16:creationId xmlns:a16="http://schemas.microsoft.com/office/drawing/2014/main" id="{2A24E77D-343F-423D-A124-23142B96164A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0" name="Freihandform: Form 269">
              <a:extLst>
                <a:ext uri="{FF2B5EF4-FFF2-40B4-BE49-F238E27FC236}">
                  <a16:creationId xmlns:a16="http://schemas.microsoft.com/office/drawing/2014/main" id="{83AE92AB-068D-4D77-910A-C243DEA3B7D8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1" name="Freihandform: Form 270">
              <a:extLst>
                <a:ext uri="{FF2B5EF4-FFF2-40B4-BE49-F238E27FC236}">
                  <a16:creationId xmlns:a16="http://schemas.microsoft.com/office/drawing/2014/main" id="{71B3082D-B364-404C-8EE0-64D1F1F07577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2" name="Freihandform: Form 271">
              <a:extLst>
                <a:ext uri="{FF2B5EF4-FFF2-40B4-BE49-F238E27FC236}">
                  <a16:creationId xmlns:a16="http://schemas.microsoft.com/office/drawing/2014/main" id="{91760FEA-4737-4183-8A29-75C45D9B69AB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3" name="Freihandform: Form 272">
              <a:extLst>
                <a:ext uri="{FF2B5EF4-FFF2-40B4-BE49-F238E27FC236}">
                  <a16:creationId xmlns:a16="http://schemas.microsoft.com/office/drawing/2014/main" id="{24BA7877-7B7C-4C99-A7FB-8D50CD60EB59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4" name="Freihandform: Form 273">
              <a:extLst>
                <a:ext uri="{FF2B5EF4-FFF2-40B4-BE49-F238E27FC236}">
                  <a16:creationId xmlns:a16="http://schemas.microsoft.com/office/drawing/2014/main" id="{CB08555D-77C4-4E49-9021-BEE8D3903ACB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5" name="Freihandform: Form 274">
              <a:extLst>
                <a:ext uri="{FF2B5EF4-FFF2-40B4-BE49-F238E27FC236}">
                  <a16:creationId xmlns:a16="http://schemas.microsoft.com/office/drawing/2014/main" id="{B95A74DD-3BCD-4CB1-9EC7-F904CAEFCB5B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6" name="Freihandform: Form 275">
              <a:extLst>
                <a:ext uri="{FF2B5EF4-FFF2-40B4-BE49-F238E27FC236}">
                  <a16:creationId xmlns:a16="http://schemas.microsoft.com/office/drawing/2014/main" id="{B756A931-26C4-46F3-AF51-F75487DE5C6F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7" name="Freihandform: Form 276">
              <a:extLst>
                <a:ext uri="{FF2B5EF4-FFF2-40B4-BE49-F238E27FC236}">
                  <a16:creationId xmlns:a16="http://schemas.microsoft.com/office/drawing/2014/main" id="{7EE99256-843E-4966-A958-37FF836D7C17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8" name="Freihandform: Form 277">
              <a:extLst>
                <a:ext uri="{FF2B5EF4-FFF2-40B4-BE49-F238E27FC236}">
                  <a16:creationId xmlns:a16="http://schemas.microsoft.com/office/drawing/2014/main" id="{C1566263-06A3-4DAE-81C0-6CD38991B895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9" name="Freihandform: Form 278">
              <a:extLst>
                <a:ext uri="{FF2B5EF4-FFF2-40B4-BE49-F238E27FC236}">
                  <a16:creationId xmlns:a16="http://schemas.microsoft.com/office/drawing/2014/main" id="{C35799A7-8D8C-4526-BFD3-2B76F61338E3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0" name="Freihandform: Form 279">
              <a:extLst>
                <a:ext uri="{FF2B5EF4-FFF2-40B4-BE49-F238E27FC236}">
                  <a16:creationId xmlns:a16="http://schemas.microsoft.com/office/drawing/2014/main" id="{A3C8438E-2478-4F49-9168-B8953F43F7B6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: Form 280">
              <a:extLst>
                <a:ext uri="{FF2B5EF4-FFF2-40B4-BE49-F238E27FC236}">
                  <a16:creationId xmlns:a16="http://schemas.microsoft.com/office/drawing/2014/main" id="{79FA65E8-3B49-486C-BBA8-7D5BFAF50194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: Form 281">
              <a:extLst>
                <a:ext uri="{FF2B5EF4-FFF2-40B4-BE49-F238E27FC236}">
                  <a16:creationId xmlns:a16="http://schemas.microsoft.com/office/drawing/2014/main" id="{C4A39B2C-6C0D-42F4-BC52-B3B451C480B1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3" name="Freihandform: Form 282">
              <a:extLst>
                <a:ext uri="{FF2B5EF4-FFF2-40B4-BE49-F238E27FC236}">
                  <a16:creationId xmlns:a16="http://schemas.microsoft.com/office/drawing/2014/main" id="{46BB5A8F-C21E-4D01-B431-807803FB5AD6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4" name="Freihandform: Form 283">
              <a:extLst>
                <a:ext uri="{FF2B5EF4-FFF2-40B4-BE49-F238E27FC236}">
                  <a16:creationId xmlns:a16="http://schemas.microsoft.com/office/drawing/2014/main" id="{E2B32CBE-81D4-4157-A204-C55B0BFC36FD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5" name="Freihandform: Form 284">
              <a:extLst>
                <a:ext uri="{FF2B5EF4-FFF2-40B4-BE49-F238E27FC236}">
                  <a16:creationId xmlns:a16="http://schemas.microsoft.com/office/drawing/2014/main" id="{11A2A934-6ABD-469C-A7DA-94052AA3ACD9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6" name="Freihandform: Form 285">
              <a:extLst>
                <a:ext uri="{FF2B5EF4-FFF2-40B4-BE49-F238E27FC236}">
                  <a16:creationId xmlns:a16="http://schemas.microsoft.com/office/drawing/2014/main" id="{3BB1BD05-C8A4-4547-A1A7-DBF8092E1E72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7" name="Freihandform: Form 286">
              <a:extLst>
                <a:ext uri="{FF2B5EF4-FFF2-40B4-BE49-F238E27FC236}">
                  <a16:creationId xmlns:a16="http://schemas.microsoft.com/office/drawing/2014/main" id="{0E2A3272-C104-4611-8721-06CADC35166A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8" name="Freihandform: Form 287">
              <a:extLst>
                <a:ext uri="{FF2B5EF4-FFF2-40B4-BE49-F238E27FC236}">
                  <a16:creationId xmlns:a16="http://schemas.microsoft.com/office/drawing/2014/main" id="{58991AAA-2773-4AF3-A0C0-BCBBC8236D08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9" name="Freihandform: Form 288">
              <a:extLst>
                <a:ext uri="{FF2B5EF4-FFF2-40B4-BE49-F238E27FC236}">
                  <a16:creationId xmlns:a16="http://schemas.microsoft.com/office/drawing/2014/main" id="{BE6DF724-2E49-4DC2-A0EC-8498D22EADAE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0" name="Freihandform: Form 289">
              <a:extLst>
                <a:ext uri="{FF2B5EF4-FFF2-40B4-BE49-F238E27FC236}">
                  <a16:creationId xmlns:a16="http://schemas.microsoft.com/office/drawing/2014/main" id="{6F2B2A44-D3B9-4839-8780-2523FC7C0CFA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1" name="Freihandform: Form 290">
              <a:extLst>
                <a:ext uri="{FF2B5EF4-FFF2-40B4-BE49-F238E27FC236}">
                  <a16:creationId xmlns:a16="http://schemas.microsoft.com/office/drawing/2014/main" id="{A7B61303-4423-4700-A145-E52E0AAF82E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2" name="Freihandform: Form 291">
              <a:extLst>
                <a:ext uri="{FF2B5EF4-FFF2-40B4-BE49-F238E27FC236}">
                  <a16:creationId xmlns:a16="http://schemas.microsoft.com/office/drawing/2014/main" id="{CAA87110-575D-4D1F-A310-D946F13A5FF3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3" name="Freihandform: Form 292">
              <a:extLst>
                <a:ext uri="{FF2B5EF4-FFF2-40B4-BE49-F238E27FC236}">
                  <a16:creationId xmlns:a16="http://schemas.microsoft.com/office/drawing/2014/main" id="{284BB8DF-265D-4207-A163-D86AF4D1D7FF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4" name="Freihandform: Form 293">
              <a:extLst>
                <a:ext uri="{FF2B5EF4-FFF2-40B4-BE49-F238E27FC236}">
                  <a16:creationId xmlns:a16="http://schemas.microsoft.com/office/drawing/2014/main" id="{4DB9C8B7-8322-4B56-AFD9-905DC7EF49E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5" name="Freihandform: Form 294">
              <a:extLst>
                <a:ext uri="{FF2B5EF4-FFF2-40B4-BE49-F238E27FC236}">
                  <a16:creationId xmlns:a16="http://schemas.microsoft.com/office/drawing/2014/main" id="{17E12F20-0FCA-412C-B4C2-F749AFFCAD6E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5835-5467-E949-BC43-DBD795CC6E7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403160-8459-D24E-8ECF-1768A6C393C2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12" name="Grafik 3">
            <a:extLst>
              <a:ext uri="{FF2B5EF4-FFF2-40B4-BE49-F238E27FC236}">
                <a16:creationId xmlns:a16="http://schemas.microsoft.com/office/drawing/2014/main" id="{C7BBC885-0DED-4896-9346-B81B3DFDE163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3CC4892F-A906-4E4B-BEBB-92977436EBE7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4" name="Freihandform: Form 113">
              <a:extLst>
                <a:ext uri="{FF2B5EF4-FFF2-40B4-BE49-F238E27FC236}">
                  <a16:creationId xmlns:a16="http://schemas.microsoft.com/office/drawing/2014/main" id="{44B6FC23-C285-48C4-8A96-6359C6B7586F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5" name="Freihandform: Form 114">
              <a:extLst>
                <a:ext uri="{FF2B5EF4-FFF2-40B4-BE49-F238E27FC236}">
                  <a16:creationId xmlns:a16="http://schemas.microsoft.com/office/drawing/2014/main" id="{C116F810-D7E5-4F55-8ABD-84A95E364884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D4042654-B2BC-4AA6-A157-885C0B58E2F9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C1F8A9F-2959-43DD-BD31-1434DDEB6A7C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FE6073BB-B987-443D-93D9-49C8E659470B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F9006685-D690-40E5-BDDF-68D7A3F24A9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00601C1C-5D55-4BF3-A5A7-1A3AE6189209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817C1DF2-9151-4C01-A684-0700826D1283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6B106256-8404-4067-8E7A-E01321DCBA03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6927C2D1-9462-4534-9A9E-8418E1EA163F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4D24B4B9-ED7F-4932-B6A0-95BAB2E6BAA1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5B42272A-45E1-4F0A-8F5A-871FF29FF040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7CA3A6CD-6E16-40A8-9445-6EE8B3BB8A0D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7FE1A26D-7D77-46D7-BD0D-488898D8CD0B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091F6143-639A-4F3D-8B07-39438D782D44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0719B3E5-5B65-43B2-9D81-D3CFE51DE9F6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F103A488-1226-4CCD-B931-5F7438AE2F80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EF3F776B-7E6A-4950-84DB-DC42302BA9B9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FC0F14F5-38EB-4D6F-BD85-7077223A5A7A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1E048B0E-3AE0-4AA1-A63B-68E8E4E40DD0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9327B281-6258-4D41-9D1C-4A9E4CD7B000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4C83E44C-5C54-4D63-931E-F94A8FCE137A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145D09AB-BA33-4E2C-9C9B-60A9EE2AE1AB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87ED857C-BFDB-4C63-9349-B04A2F2B4CB7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022462CF-1873-4148-A70A-D28CE73EB178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713626AE-EAD2-4C7D-8BBD-8C2537F2C016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6946663-A499-4DAE-9CC7-A066B8C7448A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61DF69B0-D9E9-4D0D-AAF3-4AF06E976215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55825069-C406-4E26-8F1F-0D5BDD5F1542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E490C6BB-CEE2-4AFC-AD1D-169DF8422A53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90FD2BFA-017E-4874-9398-DBC07CF04CAA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58420EE4-2823-4360-82EF-FB939CEC9EAD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A56413FD-CD86-4A37-8941-0C3ED8C6601F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70BB9A3A-DA28-4E0A-8EE0-440CE8D817DF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7668531-35ED-4E46-A1F1-B59D4099692B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E5C3BB19-466D-4065-B79C-2358EA0C2BAC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A6359725-88DC-46FA-90B3-AE356047B727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802B8F28-C8F9-4511-A27E-FDB595AA82BB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B89008AF-D68A-45D1-B23A-9A8F809F9456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4D2AF9BD-C8EA-49F0-9EC7-025A5BF9B9BB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7E379F40-AEDC-4DCE-A071-D9E137D741D9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0ECF3A64-A23E-4825-A8EA-9DB032D9FA25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BBB003B1-14C1-4376-BD2C-B149B1EF0AA1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AEB77082-4118-497E-A6CC-99D1EBEAD35C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887BCFEB-5BC4-4E92-804C-B6A9C065684E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B4C33129-C5DD-4063-8FD8-20EEF58BF1F7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184C808E-8BC1-463E-BE99-DECAFB5636C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C0794DED-7A68-4833-AC17-D008863582BA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930A8869-7F8D-427F-BA15-4E40DA0FEC90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57A33E8D-4897-4A53-928A-E6CA4DF2991B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5321F48-2496-4114-B6FE-C81DE73D981C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9FFB41-5355-4FCE-95E9-3DB2B8F454BF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918C63A4-642C-42D5-BACB-FCC505D9FDB8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E8EC4C4-AA5A-4D15-9B16-CDFDA936CDCE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6F937E76-CC0D-477F-B353-68EF56642729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BAC0FBC8-ED0D-4409-8984-BE47806B4B65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F1A3C0E-54A4-4D2A-AF84-95BB543BCE79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21505FB6-545A-4E69-8001-11A2429D0221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4840267-2F9B-45B4-8711-FEA1B69E6334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F2015CD-077D-4586-A92B-80A18C962209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4EF4452C-ECCB-48AD-98C9-C551CCC3B10F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345C9EB-66D0-4397-BF45-18B9D81FC3C1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CC092255-FE55-4165-B565-CECD0D71FCF4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67D70A2E-8F3A-4680-BECD-E71EE47E1952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506EEE1F-66F9-4D2B-BA94-2FB156CB0E39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74733A0-A3D9-4EB8-B59E-1D33A8156D3E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D1FAA1E8-DAFE-4E04-85EE-FCAD56BD35E1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09C4B215-6083-45BD-BA87-2DE47C9D0D8E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D529CA8F-B434-421C-8549-410B642072CA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B08278F5-401C-4B99-B08F-5BA7405F32D9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8E20F1AF-B558-471E-AAE9-8DBAFBFA6BA4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745B9AE5-CD71-43F4-9E16-87BCED79224F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436FB004-3A92-41D3-B808-71CE49217D0D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FB366C92-3556-460A-96A5-174C44955F53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04896952-F1FA-49B6-B449-4304B9D28C4D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FB0C4D95-0710-4CC8-AB09-3C3A3C73C620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57D06E2C-97D8-4B7E-BC43-4375533F6609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0AA21074-ECEF-4DBA-8FC1-08ABCFA0C59B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80B92DB5-B5F3-4077-A03B-256D966E382B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95446453-E0A3-4941-A520-97A3CBE945F9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2644EA24-40AD-4FCC-B4CC-B25C37E1A3D7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47DF-4A3A-2546-BDEC-2FE6348D7930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F392-BD35-6341-919C-A748FE2EEAE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AA71-A3D6-2E44-B91F-7A4D1432995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6C2B-F8F0-704E-BC9A-EBE50C372AF1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39D24-2FF0-6D4E-8668-718CF4089732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61BD-6FD1-9C4F-A8E3-1B2D44FDD542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26DFF-94B3-E541-823A-EF5F6E6BFE7B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CA2F-E89D-6A46-AEB2-87FB294475C1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2D49-625F-FF46-9163-10FB78DB95B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D885-02FB-3C4C-B41E-17E699693BF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BBAF2-0959-AF44-BE9B-581E351FED33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B9D90-877A-004F-BE93-D540635CA7B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3F85-C665-1145-8E4B-2925D139850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15" name="Grafik 3">
            <a:extLst>
              <a:ext uri="{FF2B5EF4-FFF2-40B4-BE49-F238E27FC236}">
                <a16:creationId xmlns:a16="http://schemas.microsoft.com/office/drawing/2014/main" id="{BA8C8498-B3FB-4699-8D3B-C2363E24DDD2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CDB6A0FC-BBCF-4363-981A-716E0AAD602B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6474B78-4F38-4264-98D4-D30CA84AC80E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750361AA-FFAB-4953-A499-FA36FB58F7A6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056166AE-E09C-4601-9BAA-382FC22D4469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F86D92C2-582A-4B29-9805-84BE192C633C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118F9F96-378C-44FD-B853-EB8BD3F0E874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8042DCA9-4694-4769-A5A3-FC344870A4EA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F00A25A4-1F62-4078-A44B-C4D4D70E444D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28CFB822-A07B-4A27-9078-A5D01175B870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DBCC3206-8DD2-4C8A-B7F6-9C59E5A9FED9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424D3113-E668-441E-8951-A32BE015C3B0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970453C7-F0DE-47F0-A556-633D71E12AF3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4F84A0C8-4213-4B72-A3AD-CD286700FA17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81DDED70-42A5-47B0-97F2-08BDBD624DBB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25CB480C-3D67-472F-ACFE-9E8627F3F787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F623BA67-8D59-4570-819E-2DD7773DB063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60367351-1CE4-4258-8191-FDB59C1B3FDC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5BDDEE2C-25FB-4022-B55B-F5882A7C2A56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616535D9-C0A4-42CF-9C54-6DB06DFDFE6E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0485C757-813D-44E0-BCB7-31141CD07E48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C7CAB665-FB04-47AE-A7F6-B25666A9C7BD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213035C6-CF9F-4D5D-91E7-9D8CA8DAAFD6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D46799AE-D1AC-4A16-A5D1-F75A0C52D446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288A2A71-FDA8-44E1-BE21-21B3E3CBF381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33E41754-E419-43BA-806E-8079FFB20E80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4FD442D8-2598-48E7-965E-91E79FD4148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31013972-1EA6-431E-AFC3-90896A4603F0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33FA3E3D-E1AC-4DFD-9390-6813E4246D86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FF90BE11-71FB-49BE-82FE-C113389F6F50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78FF349-EB76-40B6-97C4-BAB8A6EBC098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CE5DE3B7-333F-44B2-822B-BBDD51B19A83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EFDE0E19-A0D6-44C9-B936-C86E69C081A8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92690C8-716E-411B-947A-44532E780BD2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42450ADB-7283-48C2-85CD-2054C8EB268B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0B860D4A-1674-4A52-9B9D-2FF3B24B634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0FB526FE-1FA8-44B6-BBD1-1C61428D8F50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D0955A09-933E-4FC9-8935-6A0761EC805E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2D2AEB27-3DBE-4C46-B855-F6417F8BE584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33AF7FFB-EC7B-4744-BEA9-F91312BA94BD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93A72E4F-5273-4932-87C1-9A44E6D802A2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296CC180-BECF-4BB2-9D3F-345BC48E83FD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815B2B66-D154-4CAE-9E05-F160280AF526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F4D79CE6-EDE8-44F4-A684-AD28961F3BD9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2F7D4B41-7B93-4F1E-9970-BCCF8B6998B4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C95388A3-66FF-4FB5-94A2-B1859A5937F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78D8F18-F84F-465D-BFC1-1FE4712F2C27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A3512126-3734-4488-B3C7-50AA8C99473F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140A4E5F-697E-4391-A49B-C3859A1DB057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5B8B719-FB01-4DF6-B8A8-5B018E97920C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7725D6DA-37D3-47CF-89CE-BB856CF2EB8D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1DBBFD29-EE8E-4CCD-A8B3-557E22A4C9E9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2D98E32F-BDD7-4752-A6B1-BC0D4C3F7AC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BD915048-FE88-419D-9EBB-8092B5E0F630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41994C-FB80-4B8C-A450-4723FFE0FDD3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F006D8D-E219-438B-83C5-C378362B72E1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42B68FE3-6246-468A-A9CC-619DD77F8675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45BE1ABE-A986-48B3-9EC3-5AC189356127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9E59EF01-209C-43D8-AD0F-020420CE10FE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9D96E9F2-8836-4F7F-855B-26E3CBC00612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1D392914-26E6-435A-9AE2-5EB8E02D6C78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27165C0-61B7-44AE-B61C-71360C9532ED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FC0E39F-03DD-436D-AA92-6F57E74A48FE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41C091E0-5821-4486-8E64-2FD52F3E0717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DF283017-0B2C-494C-BA68-EAD21CFD4FA4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7BB3E30E-76D0-477B-850A-C60FD0634019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05161B9B-AEF2-4FE6-8472-579148D2B4F5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A66A89DC-56C3-4098-B227-7E3A3A35EBD4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0A8862CA-8004-4A78-A7D1-3E40F07F0F8C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EAED3121-6B94-4633-9DD0-443BA4AAFDBA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6CDC8138-A44E-422D-9D3C-E27D1EB31A10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F2F80334-9D78-414E-92CF-9B09E762E936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07C72013-7C44-4386-86D5-3A12A2F7EFCB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B6AEF49F-F4CF-4D85-B5B5-551CF214D939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A4800E96-F44F-4BE1-93C8-E28DBD9F06F9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C7190F48-4EF5-4244-9B7B-1D12115D9AED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88ED0AF2-2479-48AB-9C89-A9E064055FB4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622CD024-B066-425E-90D8-13B1673EBE29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99DAA978-C363-44B9-ABA1-626F858E9B0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88785ABD-E1F8-421B-9E84-DCDBF11C2B02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A0A53AA3-90DB-4EE1-9D52-0CE955AC6132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361C518F-8017-4A8A-82AE-26EA3F2EDA2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11B09AF8-F848-4632-B342-DF48AD33BA92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813B354-BC39-4645-8819-2B4DEEDA9F36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2E38F-3580-5D37-6C4F-68237EC3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3160-8459-D24E-8ECF-1768A6C393C2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8DC3C-0B2B-B866-8A73-D62BA336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260537-CD3B-BB8F-0F7C-7D763C43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258458"/>
            <a:ext cx="4868930" cy="1663547"/>
          </a:xfrm>
        </p:spPr>
        <p:txBody>
          <a:bodyPr/>
          <a:lstStyle/>
          <a:p>
            <a:r>
              <a:rPr lang="en-GB"/>
              <a:t>Food Volume &amp; Calorie Estimation</a:t>
            </a:r>
            <a:endParaRPr lang="en-UA"/>
          </a:p>
        </p:txBody>
      </p:sp>
      <p:sp>
        <p:nvSpPr>
          <p:cNvPr id="21" name="CreditsLeft">
            <a:extLst>
              <a:ext uri="{FF2B5EF4-FFF2-40B4-BE49-F238E27FC236}">
                <a16:creationId xmlns:a16="http://schemas.microsoft.com/office/drawing/2014/main" id="{0034046B-84CA-6F4E-B96F-A4D8846EA821}"/>
              </a:ext>
            </a:extLst>
          </p:cNvPr>
          <p:cNvSpPr txBox="1"/>
          <p:nvPr/>
        </p:nvSpPr>
        <p:spPr>
          <a:xfrm>
            <a:off x="520700" y="5689600"/>
            <a:ext cx="5461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de-DE" sz="1400" b="1" spc="300">
                <a:solidFill>
                  <a:srgbClr val="EBCCB7"/>
                </a:solidFill>
              </a:rPr>
              <a:t>VORGESTELLT VON</a:t>
            </a:r>
          </a:p>
          <a:p>
            <a:pPr>
              <a:spcAft>
                <a:spcPts val="600"/>
              </a:spcAft>
            </a:pPr>
            <a:r>
              <a:rPr lang="de-DE" sz="1400" b="1" spc="300"/>
              <a:t>Lukas Lommer &amp; Polina Kochmar</a:t>
            </a:r>
          </a:p>
        </p:txBody>
      </p:sp>
      <p:sp>
        <p:nvSpPr>
          <p:cNvPr id="22" name="CreditsRight">
            <a:extLst>
              <a:ext uri="{FF2B5EF4-FFF2-40B4-BE49-F238E27FC236}">
                <a16:creationId xmlns:a16="http://schemas.microsoft.com/office/drawing/2014/main" id="{8A0C328E-22BA-424A-9A87-13D331286AF6}"/>
              </a:ext>
            </a:extLst>
          </p:cNvPr>
          <p:cNvSpPr txBox="1"/>
          <p:nvPr/>
        </p:nvSpPr>
        <p:spPr>
          <a:xfrm>
            <a:off x="6210300" y="5689600"/>
            <a:ext cx="5461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>
              <a:spcAft>
                <a:spcPts val="600"/>
              </a:spcAft>
            </a:pPr>
            <a:r>
              <a:rPr lang="de-DE" sz="1400" b="1" spc="300">
                <a:solidFill>
                  <a:srgbClr val="EBCCB7"/>
                </a:solidFill>
              </a:rPr>
              <a:t>MODELL &amp; PROJEKT</a:t>
            </a:r>
            <a:endParaRPr lang="uk-UA" sz="1400" b="1" spc="300">
              <a:solidFill>
                <a:srgbClr val="EBCCB7"/>
              </a:solidFill>
            </a:endParaRPr>
          </a:p>
          <a:p>
            <a:pPr algn="r">
              <a:spcAft>
                <a:spcPts val="600"/>
              </a:spcAft>
            </a:pPr>
            <a:r>
              <a:rPr lang="de-DE" sz="1400" b="1">
                <a:solidFill>
                  <a:srgbClr val="FFFFFF"/>
                </a:solidFill>
              </a:rPr>
              <a:t>Clemens Dieterich </a:t>
            </a:r>
            <a:r>
              <a:rPr lang="en-US" sz="1400" b="1">
                <a:solidFill>
                  <a:srgbClr val="FFFFFF"/>
                </a:solidFill>
              </a:rPr>
              <a:t>, </a:t>
            </a:r>
            <a:r>
              <a:rPr lang="de-DE" sz="1400" b="1">
                <a:solidFill>
                  <a:srgbClr val="FFFFFF"/>
                </a:solidFill>
              </a:rPr>
              <a:t>Jochen </a:t>
            </a:r>
            <a:r>
              <a:rPr lang="de-DE" sz="1400" b="1" err="1">
                <a:solidFill>
                  <a:srgbClr val="FFFFFF"/>
                </a:solidFill>
              </a:rPr>
              <a:t>Lichtenscheidel</a:t>
            </a:r>
            <a:r>
              <a:rPr lang="de-DE" sz="1400" b="1">
                <a:solidFill>
                  <a:srgbClr val="FFFFFF"/>
                </a:solidFill>
              </a:rPr>
              <a:t> , Nico Gergen</a:t>
            </a:r>
          </a:p>
          <a:p>
            <a:pPr algn="r">
              <a:spcAft>
                <a:spcPts val="600"/>
              </a:spcAft>
            </a:pPr>
            <a:endParaRPr lang="de-DE" sz="1400" b="1" spc="300">
              <a:solidFill>
                <a:srgbClr val="EBC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049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6DD6C-C8E2-0611-C2DE-64FC5157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EF4B6-8A6E-8FFB-486E-9D7BD3B2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9E0AA-0791-71FC-24A7-F73C9D6D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8" name="Shape 23">
            <a:extLst>
              <a:ext uri="{FF2B5EF4-FFF2-40B4-BE49-F238E27FC236}">
                <a16:creationId xmlns:a16="http://schemas.microsoft.com/office/drawing/2014/main" id="{113C65D7-456A-87F0-8F97-6DB8DFB23FA2}"/>
              </a:ext>
            </a:extLst>
          </p:cNvPr>
          <p:cNvSpPr/>
          <p:nvPr/>
        </p:nvSpPr>
        <p:spPr>
          <a:xfrm>
            <a:off x="6810435" y="1571495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24">
            <a:extLst>
              <a:ext uri="{FF2B5EF4-FFF2-40B4-BE49-F238E27FC236}">
                <a16:creationId xmlns:a16="http://schemas.microsoft.com/office/drawing/2014/main" id="{E7B9449B-D3E2-1721-2C5D-9A117F3A66EA}"/>
              </a:ext>
            </a:extLst>
          </p:cNvPr>
          <p:cNvSpPr/>
          <p:nvPr/>
        </p:nvSpPr>
        <p:spPr>
          <a:xfrm>
            <a:off x="6673275" y="1798718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25">
            <a:extLst>
              <a:ext uri="{FF2B5EF4-FFF2-40B4-BE49-F238E27FC236}">
                <a16:creationId xmlns:a16="http://schemas.microsoft.com/office/drawing/2014/main" id="{6AF8D219-F381-A0C3-DD52-E27844A329DC}"/>
              </a:ext>
            </a:extLst>
          </p:cNvPr>
          <p:cNvSpPr/>
          <p:nvPr/>
        </p:nvSpPr>
        <p:spPr>
          <a:xfrm>
            <a:off x="6673275" y="17987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4E52F58E-3B5D-26EF-2966-496A83BDBA1E}"/>
              </a:ext>
            </a:extLst>
          </p:cNvPr>
          <p:cNvSpPr/>
          <p:nvPr/>
        </p:nvSpPr>
        <p:spPr>
          <a:xfrm>
            <a:off x="7310616" y="1568467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How much food is on the plate?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27">
            <a:extLst>
              <a:ext uri="{FF2B5EF4-FFF2-40B4-BE49-F238E27FC236}">
                <a16:creationId xmlns:a16="http://schemas.microsoft.com/office/drawing/2014/main" id="{3965F69A-0F16-665E-F7F9-FAAF79E9BAE0}"/>
              </a:ext>
            </a:extLst>
          </p:cNvPr>
          <p:cNvSpPr/>
          <p:nvPr/>
        </p:nvSpPr>
        <p:spPr>
          <a:xfrm>
            <a:off x="6810435" y="2668775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6E588C18-3832-79DC-FFFF-C5E82A7137A8}"/>
              </a:ext>
            </a:extLst>
          </p:cNvPr>
          <p:cNvSpPr/>
          <p:nvPr/>
        </p:nvSpPr>
        <p:spPr>
          <a:xfrm>
            <a:off x="6673275" y="2780323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29">
            <a:extLst>
              <a:ext uri="{FF2B5EF4-FFF2-40B4-BE49-F238E27FC236}">
                <a16:creationId xmlns:a16="http://schemas.microsoft.com/office/drawing/2014/main" id="{EF93AA4C-40B7-C9A4-99E2-B9ADD2005E1C}"/>
              </a:ext>
            </a:extLst>
          </p:cNvPr>
          <p:cNvSpPr/>
          <p:nvPr/>
        </p:nvSpPr>
        <p:spPr>
          <a:xfrm>
            <a:off x="6673275" y="278032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E4D3E05F-AE8F-4041-247E-F8E464D0F2E1}"/>
              </a:ext>
            </a:extLst>
          </p:cNvPr>
          <p:cNvSpPr/>
          <p:nvPr/>
        </p:nvSpPr>
        <p:spPr>
          <a:xfrm>
            <a:off x="7313355" y="2647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grams?</a:t>
            </a:r>
            <a:endParaRPr lang="en-US" sz="1600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26C31CEF-7682-EC9E-3DFE-9B8190370669}"/>
              </a:ext>
            </a:extLst>
          </p:cNvPr>
          <p:cNvSpPr/>
          <p:nvPr/>
        </p:nvSpPr>
        <p:spPr>
          <a:xfrm>
            <a:off x="6810435" y="3583175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DA1BE85F-2D26-92AD-5E4B-D97EE40D17CE}"/>
              </a:ext>
            </a:extLst>
          </p:cNvPr>
          <p:cNvSpPr/>
          <p:nvPr/>
        </p:nvSpPr>
        <p:spPr>
          <a:xfrm>
            <a:off x="6680566" y="3700726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33">
            <a:extLst>
              <a:ext uri="{FF2B5EF4-FFF2-40B4-BE49-F238E27FC236}">
                <a16:creationId xmlns:a16="http://schemas.microsoft.com/office/drawing/2014/main" id="{C05BAF46-7EE4-6587-8324-D232E423DCFA}"/>
              </a:ext>
            </a:extLst>
          </p:cNvPr>
          <p:cNvSpPr/>
          <p:nvPr/>
        </p:nvSpPr>
        <p:spPr>
          <a:xfrm>
            <a:off x="6680566" y="37007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FF699A4B-80DA-649C-AA81-24376E3D9237}"/>
              </a:ext>
            </a:extLst>
          </p:cNvPr>
          <p:cNvSpPr/>
          <p:nvPr/>
        </p:nvSpPr>
        <p:spPr>
          <a:xfrm>
            <a:off x="7310616" y="35766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calories?</a:t>
            </a:r>
            <a:endParaRPr lang="en-US" sz="1600"/>
          </a:p>
        </p:txBody>
      </p:sp>
      <p:sp>
        <p:nvSpPr>
          <p:cNvPr id="20" name="Shape 35">
            <a:extLst>
              <a:ext uri="{FF2B5EF4-FFF2-40B4-BE49-F238E27FC236}">
                <a16:creationId xmlns:a16="http://schemas.microsoft.com/office/drawing/2014/main" id="{75365AD0-EF5E-780A-B622-814373E496BE}"/>
              </a:ext>
            </a:extLst>
          </p:cNvPr>
          <p:cNvSpPr/>
          <p:nvPr/>
        </p:nvSpPr>
        <p:spPr>
          <a:xfrm>
            <a:off x="6666018" y="4543295"/>
            <a:ext cx="4589417" cy="7257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Picture 22" descr="A plate of food with rice and vegetables&#10;&#10;AI-generated content may be incorrect.">
            <a:extLst>
              <a:ext uri="{FF2B5EF4-FFF2-40B4-BE49-F238E27FC236}">
                <a16:creationId xmlns:a16="http://schemas.microsoft.com/office/drawing/2014/main" id="{7BFA330E-B37E-DEED-6EC6-EAD2F3672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" y="1497489"/>
            <a:ext cx="5470973" cy="4911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4EEE8B-9A42-DDFF-89E5-DA278D4866C9}"/>
              </a:ext>
            </a:extLst>
          </p:cNvPr>
          <p:cNvSpPr txBox="1"/>
          <p:nvPr/>
        </p:nvSpPr>
        <p:spPr>
          <a:xfrm>
            <a:off x="518318" y="588199"/>
            <a:ext cx="7622639" cy="5146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3200">
                <a:solidFill>
                  <a:srgbClr val="04316A"/>
                </a:solidFill>
                <a:latin typeface="Calibri"/>
                <a:ea typeface="Calibri"/>
                <a:cs typeface="Calibri"/>
              </a:rPr>
              <a:t>Food Volume &amp; Calorie Estimation </a:t>
            </a:r>
            <a:endParaRPr lang="en-US" sz="3200" i="0" u="none" strike="noStrike" kern="1200" cap="none" spc="0" normalizeH="0" baseline="0" noProof="0">
              <a:ln>
                <a:noFill/>
              </a:ln>
              <a:solidFill>
                <a:srgbClr val="1B3A6B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2" name="Shape 31">
            <a:extLst>
              <a:ext uri="{FF2B5EF4-FFF2-40B4-BE49-F238E27FC236}">
                <a16:creationId xmlns:a16="http://schemas.microsoft.com/office/drawing/2014/main" id="{BC18DDAD-FDF7-0015-F03E-411E0430E39D}"/>
              </a:ext>
            </a:extLst>
          </p:cNvPr>
          <p:cNvSpPr/>
          <p:nvPr/>
        </p:nvSpPr>
        <p:spPr>
          <a:xfrm>
            <a:off x="6803177" y="4729803"/>
            <a:ext cx="4445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32">
            <a:extLst>
              <a:ext uri="{FF2B5EF4-FFF2-40B4-BE49-F238E27FC236}">
                <a16:creationId xmlns:a16="http://schemas.microsoft.com/office/drawing/2014/main" id="{B6C60736-77D8-5D05-D9B9-5F599008F21E}"/>
              </a:ext>
            </a:extLst>
          </p:cNvPr>
          <p:cNvSpPr/>
          <p:nvPr/>
        </p:nvSpPr>
        <p:spPr>
          <a:xfrm>
            <a:off x="6666051" y="4854611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00DEFDBF-9809-664C-6FDA-9C93FB57348B}"/>
              </a:ext>
            </a:extLst>
          </p:cNvPr>
          <p:cNvSpPr/>
          <p:nvPr/>
        </p:nvSpPr>
        <p:spPr>
          <a:xfrm>
            <a:off x="6666051" y="485461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64389956-7062-1E88-375F-116E904FA95A}"/>
              </a:ext>
            </a:extLst>
          </p:cNvPr>
          <p:cNvSpPr/>
          <p:nvPr/>
        </p:nvSpPr>
        <p:spPr>
          <a:xfrm>
            <a:off x="7310615" y="4730565"/>
            <a:ext cx="3846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Estimate food amount and calories from plate images</a:t>
            </a:r>
          </a:p>
        </p:txBody>
      </p:sp>
      <p:pic>
        <p:nvPicPr>
          <p:cNvPr id="30" name="Graphic 29" descr="Volltreffer mit einfarbiger Füllung">
            <a:extLst>
              <a:ext uri="{FF2B5EF4-FFF2-40B4-BE49-F238E27FC236}">
                <a16:creationId xmlns:a16="http://schemas.microsoft.com/office/drawing/2014/main" id="{92FB02F9-F79F-D3AE-1984-CAA0B9CC1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0115" y="4887685"/>
            <a:ext cx="420915" cy="420915"/>
          </a:xfrm>
          <a:prstGeom prst="rect">
            <a:avLst/>
          </a:prstGeom>
        </p:spPr>
      </p:pic>
      <p:sp>
        <p:nvSpPr>
          <p:cNvPr id="31" name="Shape 31">
            <a:extLst>
              <a:ext uri="{FF2B5EF4-FFF2-40B4-BE49-F238E27FC236}">
                <a16:creationId xmlns:a16="http://schemas.microsoft.com/office/drawing/2014/main" id="{2DCAC2A3-9ACC-1D8F-6041-616F40C5204A}"/>
              </a:ext>
            </a:extLst>
          </p:cNvPr>
          <p:cNvSpPr/>
          <p:nvPr/>
        </p:nvSpPr>
        <p:spPr>
          <a:xfrm>
            <a:off x="6810433" y="5586144"/>
            <a:ext cx="4445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0AEF7F8F-CC12-BC03-6A4F-13F6DF3101D8}"/>
              </a:ext>
            </a:extLst>
          </p:cNvPr>
          <p:cNvSpPr/>
          <p:nvPr/>
        </p:nvSpPr>
        <p:spPr>
          <a:xfrm>
            <a:off x="6673307" y="571095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D448FF7F-AEC2-3632-D1B6-F219DF3B4679}"/>
              </a:ext>
            </a:extLst>
          </p:cNvPr>
          <p:cNvSpPr/>
          <p:nvPr/>
        </p:nvSpPr>
        <p:spPr>
          <a:xfrm>
            <a:off x="6673307" y="571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23565453-6815-93A8-BC6E-A40B665C3E72}"/>
              </a:ext>
            </a:extLst>
          </p:cNvPr>
          <p:cNvSpPr/>
          <p:nvPr/>
        </p:nvSpPr>
        <p:spPr>
          <a:xfrm>
            <a:off x="7317871" y="5586906"/>
            <a:ext cx="3846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Volume | Grams | Kcal estimation</a:t>
            </a:r>
          </a:p>
        </p:txBody>
      </p:sp>
      <p:pic>
        <p:nvPicPr>
          <p:cNvPr id="2" name="Image 2" descr="Chevronpfeile mit einfarbiger Füllung">
            <a:extLst>
              <a:ext uri="{FF2B5EF4-FFF2-40B4-BE49-F238E27FC236}">
                <a16:creationId xmlns:a16="http://schemas.microsoft.com/office/drawing/2014/main" id="{F2DCAE64-5735-D099-10BD-3218C2F24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5913" y="5794240"/>
            <a:ext cx="352226" cy="35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4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3F0B-75E8-6D84-8717-F782AB04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775597"/>
          </a:xfrm>
        </p:spPr>
        <p:txBody>
          <a:bodyPr/>
          <a:lstStyle/>
          <a:p>
            <a:r>
              <a:rPr lang="en-US" sz="3200">
                <a:solidFill>
                  <a:srgbClr val="13265A"/>
                </a:solidFill>
                <a:latin typeface="Calibri"/>
                <a:ea typeface="Calibri"/>
                <a:cs typeface="Calibri"/>
              </a:rPr>
              <a:t>Input Data &amp; Challenge</a:t>
            </a:r>
            <a:r>
              <a:rPr lang="en-US" sz="3200" b="1">
                <a:solidFill>
                  <a:srgbClr val="13265A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2400"/>
            </a:b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3DB86-2C66-C55F-A127-90A75710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8034" y="6588946"/>
            <a:ext cx="849593" cy="123111"/>
          </a:xfrm>
        </p:spPr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5608F-B674-CEC8-A6BF-BF0B7192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2782" y="658894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DCDDC9F-DB52-3B9F-6D5C-E7B9AB033C33}"/>
              </a:ext>
            </a:extLst>
          </p:cNvPr>
          <p:cNvSpPr/>
          <p:nvPr/>
        </p:nvSpPr>
        <p:spPr>
          <a:xfrm>
            <a:off x="765137" y="3953317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+ Side</a:t>
            </a:r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C168B17-E913-C792-4AF2-9E39445BB416}"/>
              </a:ext>
            </a:extLst>
          </p:cNvPr>
          <p:cNvSpPr/>
          <p:nvPr/>
        </p:nvSpPr>
        <p:spPr>
          <a:xfrm>
            <a:off x="1501420" y="4542907"/>
            <a:ext cx="1441526" cy="1387736"/>
          </a:xfrm>
          <a:prstGeom prst="rect">
            <a:avLst/>
          </a:prstGeom>
          <a:solidFill>
            <a:srgbClr val="FFFFFF"/>
          </a:solidFill>
          <a:ln w="19050">
            <a:solidFill>
              <a:srgbClr val="1326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43E38D3-5B17-3C76-10FE-E37CE763D2D3}"/>
              </a:ext>
            </a:extLst>
          </p:cNvPr>
          <p:cNvSpPr/>
          <p:nvPr/>
        </p:nvSpPr>
        <p:spPr>
          <a:xfrm>
            <a:off x="3326803" y="4540194"/>
            <a:ext cx="1441526" cy="1397516"/>
          </a:xfrm>
          <a:prstGeom prst="rect">
            <a:avLst/>
          </a:prstGeom>
          <a:solidFill>
            <a:srgbClr val="FFFFFF"/>
          </a:solidFill>
          <a:ln w="19050">
            <a:solidFill>
              <a:srgbClr val="1326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393F6A86-872D-3C1C-21A2-80E9150F5421}"/>
              </a:ext>
            </a:extLst>
          </p:cNvPr>
          <p:cNvSpPr/>
          <p:nvPr/>
        </p:nvSpPr>
        <p:spPr>
          <a:xfrm>
            <a:off x="6832005" y="3953317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Top </a:t>
            </a:r>
            <a:endParaRPr lang="en-US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7FCE61D5-C930-7084-3E01-20269FA8A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77" y="5971769"/>
            <a:ext cx="228600" cy="228600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63DC5AFA-989B-6F95-7DCC-B2F5F1BCA7C0}"/>
              </a:ext>
            </a:extLst>
          </p:cNvPr>
          <p:cNvSpPr/>
          <p:nvPr/>
        </p:nvSpPr>
        <p:spPr>
          <a:xfrm>
            <a:off x="1245197" y="6246089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volume estimation (ml)</a:t>
            </a:r>
            <a:endParaRPr lang="en-US" sz="130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D0E8AB36-03A6-D02D-FF76-D4E7AB573E08}"/>
              </a:ext>
            </a:extLst>
          </p:cNvPr>
          <p:cNvSpPr/>
          <p:nvPr/>
        </p:nvSpPr>
        <p:spPr>
          <a:xfrm>
            <a:off x="8214362" y="4483280"/>
            <a:ext cx="1441526" cy="1387736"/>
          </a:xfrm>
          <a:prstGeom prst="rect">
            <a:avLst/>
          </a:prstGeom>
          <a:solidFill>
            <a:srgbClr val="FFFFFF"/>
          </a:solidFill>
          <a:ln w="19050">
            <a:solidFill>
              <a:srgbClr val="1326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585F7917-53A8-32D5-9F94-8D0264A8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0405" y="5914855"/>
            <a:ext cx="228600" cy="228600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059969FA-39C3-8D80-5C7D-6EBF9E5CD577}"/>
              </a:ext>
            </a:extLst>
          </p:cNvPr>
          <p:cNvSpPr/>
          <p:nvPr/>
        </p:nvSpPr>
        <p:spPr>
          <a:xfrm>
            <a:off x="7106325" y="621277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 fallback — no real volume</a:t>
            </a:r>
            <a:endParaRPr lang="en-US" sz="130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FEFD84E0-64E4-CDA6-B32E-EB1D34A4D3EB}"/>
              </a:ext>
            </a:extLst>
          </p:cNvPr>
          <p:cNvSpPr/>
          <p:nvPr/>
        </p:nvSpPr>
        <p:spPr>
          <a:xfrm>
            <a:off x="677060" y="1317570"/>
            <a:ext cx="102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estimation depends on image perspective and available visual information.</a:t>
            </a:r>
            <a:endParaRPr lang="en-US" sz="140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A080065C-C7A1-9B45-6135-AF3C9B46F569}"/>
              </a:ext>
            </a:extLst>
          </p:cNvPr>
          <p:cNvSpPr/>
          <p:nvPr/>
        </p:nvSpPr>
        <p:spPr>
          <a:xfrm>
            <a:off x="955415" y="1817798"/>
            <a:ext cx="487187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BA40AEF7-40F3-DEF8-7F88-A473224BA9D4}"/>
              </a:ext>
            </a:extLst>
          </p:cNvPr>
          <p:cNvSpPr/>
          <p:nvPr/>
        </p:nvSpPr>
        <p:spPr>
          <a:xfrm>
            <a:off x="1552465" y="2046398"/>
            <a:ext cx="548640" cy="54864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0AA22483-689E-3BCB-C58D-BCD1717A1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625" y="2183558"/>
            <a:ext cx="274320" cy="274320"/>
          </a:xfrm>
          <a:prstGeom prst="rect">
            <a:avLst/>
          </a:prstGeom>
        </p:spPr>
      </p:pic>
      <p:sp>
        <p:nvSpPr>
          <p:cNvPr id="38" name="Text 6">
            <a:extLst>
              <a:ext uri="{FF2B5EF4-FFF2-40B4-BE49-F238E27FC236}">
                <a16:creationId xmlns:a16="http://schemas.microsoft.com/office/drawing/2014/main" id="{9BB0E352-F9D8-ED9C-2FDD-1AD8E5EB9A34}"/>
              </a:ext>
            </a:extLst>
          </p:cNvPr>
          <p:cNvSpPr/>
          <p:nvPr/>
        </p:nvSpPr>
        <p:spPr>
          <a:xfrm>
            <a:off x="2283985" y="201896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Image</a:t>
            </a:r>
            <a:endParaRPr lang="en-US" sz="180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F9FE7CA5-F818-CBFC-58B2-2E3C11FD584E}"/>
              </a:ext>
            </a:extLst>
          </p:cNvPr>
          <p:cNvSpPr/>
          <p:nvPr/>
        </p:nvSpPr>
        <p:spPr>
          <a:xfrm>
            <a:off x="1552465" y="259503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Visible: food area on the plate — shape and footprint of each item.</a:t>
            </a:r>
            <a:endParaRPr lang="en-US" sz="130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F175085F-6F91-5EF8-EC84-EDBE7C292EF3}"/>
              </a:ext>
            </a:extLst>
          </p:cNvPr>
          <p:cNvSpPr/>
          <p:nvPr/>
        </p:nvSpPr>
        <p:spPr>
          <a:xfrm>
            <a:off x="6499190" y="1826447"/>
            <a:ext cx="487187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90FEF8DF-125E-1C18-BA54-991C385D8299}"/>
              </a:ext>
            </a:extLst>
          </p:cNvPr>
          <p:cNvSpPr/>
          <p:nvPr/>
        </p:nvSpPr>
        <p:spPr>
          <a:xfrm>
            <a:off x="6727791" y="2055047"/>
            <a:ext cx="548640" cy="54864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711E5003-4B35-AE65-0D97-2DEA1CE02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951" y="2192207"/>
            <a:ext cx="274320" cy="274320"/>
          </a:xfrm>
          <a:prstGeom prst="rect">
            <a:avLst/>
          </a:prstGeom>
        </p:spPr>
      </p:pic>
      <p:sp>
        <p:nvSpPr>
          <p:cNvPr id="43" name="Text 10">
            <a:extLst>
              <a:ext uri="{FF2B5EF4-FFF2-40B4-BE49-F238E27FC236}">
                <a16:creationId xmlns:a16="http://schemas.microsoft.com/office/drawing/2014/main" id="{44E2E00F-ED58-E8F8-8A85-1E1E1F006944}"/>
              </a:ext>
            </a:extLst>
          </p:cNvPr>
          <p:cNvSpPr/>
          <p:nvPr/>
        </p:nvSpPr>
        <p:spPr>
          <a:xfrm>
            <a:off x="7459311" y="2027615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Image</a:t>
            </a:r>
            <a:endParaRPr lang="en-US" sz="180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FEB526AD-BE01-834C-90C0-B648321791F0}"/>
              </a:ext>
            </a:extLst>
          </p:cNvPr>
          <p:cNvSpPr/>
          <p:nvPr/>
        </p:nvSpPr>
        <p:spPr>
          <a:xfrm>
            <a:off x="6727791" y="2603687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Visible: food height and profile — key input for real 3D volume.</a:t>
            </a:r>
            <a:endParaRPr lang="en-US" sz="130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F8151E69-CCAA-5E8C-9444-CE96BA325BD0}"/>
              </a:ext>
            </a:extLst>
          </p:cNvPr>
          <p:cNvSpPr/>
          <p:nvPr/>
        </p:nvSpPr>
        <p:spPr>
          <a:xfrm>
            <a:off x="765137" y="3349813"/>
            <a:ext cx="10910926" cy="5486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9B582793-AA9F-F635-D735-8F9581EBE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01" y="3468685"/>
            <a:ext cx="310896" cy="310896"/>
          </a:xfrm>
          <a:prstGeom prst="rect">
            <a:avLst/>
          </a:prstGeom>
        </p:spPr>
      </p:pic>
      <p:sp>
        <p:nvSpPr>
          <p:cNvPr id="47" name="Text 13">
            <a:extLst>
              <a:ext uri="{FF2B5EF4-FFF2-40B4-BE49-F238E27FC236}">
                <a16:creationId xmlns:a16="http://schemas.microsoft.com/office/drawing/2014/main" id="{8DDFA8B1-0051-DEB9-AEC6-05DA75DBB35B}"/>
              </a:ext>
            </a:extLst>
          </p:cNvPr>
          <p:cNvSpPr/>
          <p:nvPr/>
        </p:nvSpPr>
        <p:spPr>
          <a:xfrm>
            <a:off x="1414361" y="3422965"/>
            <a:ext cx="85203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side image: </a:t>
            </a:r>
            <a:r>
              <a:rPr lang="en-US" sz="140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real volume — only a grams-based fallback is possible.</a:t>
            </a:r>
            <a:endParaRPr lang="en-US" sz="140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59EEB65-A04B-01F8-4721-4A7841A6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DE28DF-1F11-5C99-00C6-65F2F6FA0A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242" y="4700614"/>
            <a:ext cx="1377881" cy="1033411"/>
          </a:xfrm>
          <a:prstGeom prst="rect">
            <a:avLst/>
          </a:prstGeom>
        </p:spPr>
      </p:pic>
      <p:pic>
        <p:nvPicPr>
          <p:cNvPr id="9" name="Picture 8" descr="An orange on a plate&#10;&#10;AI-generated content may be incorrect.">
            <a:extLst>
              <a:ext uri="{FF2B5EF4-FFF2-40B4-BE49-F238E27FC236}">
                <a16:creationId xmlns:a16="http://schemas.microsoft.com/office/drawing/2014/main" id="{0D9C07D8-24D1-1364-C12C-04DC0B1FD7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375" y="4768938"/>
            <a:ext cx="1378382" cy="10337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82FDF9-D95E-62C2-7830-152077F2BF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764" y="4667299"/>
            <a:ext cx="1377881" cy="103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1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8266-3258-70E9-44EE-2D28B48D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1107996"/>
          </a:xfrm>
        </p:spPr>
        <p:txBody>
          <a:bodyPr/>
          <a:lstStyle/>
          <a:p>
            <a:r>
              <a:rPr lang="en-US" sz="32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Pipeline</a:t>
            </a:r>
            <a:br>
              <a:rPr lang="en-US" sz="3200"/>
            </a:br>
            <a:br>
              <a:rPr lang="en-US" sz="2400"/>
            </a:br>
            <a:endParaRPr lang="en-US">
              <a:cs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C617B-7052-CE1C-DA49-AF61B9E1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BD00A-53AE-9302-F448-ABE4EDF7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164AA7B-BF5F-2E9A-B9A2-40843F04607C}"/>
              </a:ext>
            </a:extLst>
          </p:cNvPr>
          <p:cNvSpPr/>
          <p:nvPr/>
        </p:nvSpPr>
        <p:spPr>
          <a:xfrm>
            <a:off x="365477" y="2159115"/>
            <a:ext cx="1544146" cy="302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BACFC125-AA9F-7EB4-C342-A9A78B239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54" y="2670377"/>
            <a:ext cx="904887" cy="904887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F1C87FC6-2F02-E626-F2EA-845672C8D8ED}"/>
              </a:ext>
            </a:extLst>
          </p:cNvPr>
          <p:cNvSpPr/>
          <p:nvPr/>
        </p:nvSpPr>
        <p:spPr>
          <a:xfrm>
            <a:off x="1795323" y="3208050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5F45155-1C1A-0A84-5C1B-BCF32B52364B}"/>
              </a:ext>
            </a:extLst>
          </p:cNvPr>
          <p:cNvSpPr/>
          <p:nvPr/>
        </p:nvSpPr>
        <p:spPr>
          <a:xfrm>
            <a:off x="2135511" y="2096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60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640E1592-EF34-2D41-EE59-A1C224DBB624}"/>
              </a:ext>
            </a:extLst>
          </p:cNvPr>
          <p:cNvSpPr/>
          <p:nvPr/>
        </p:nvSpPr>
        <p:spPr>
          <a:xfrm>
            <a:off x="3987370" y="3174164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A85E562-EEAB-D8FC-8AF7-4B2AAD25F151}"/>
              </a:ext>
            </a:extLst>
          </p:cNvPr>
          <p:cNvSpPr/>
          <p:nvPr/>
        </p:nvSpPr>
        <p:spPr>
          <a:xfrm>
            <a:off x="4266375" y="21027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Recognition</a:t>
            </a:r>
            <a:endParaRPr lang="en-US" sz="160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49ADCDA8-EBAB-CF0A-BE4C-52FD88613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497" y="2755611"/>
            <a:ext cx="904877" cy="904877"/>
          </a:xfrm>
          <a:prstGeom prst="rect">
            <a:avLst/>
          </a:prstGeom>
        </p:spPr>
      </p:pic>
      <p:sp>
        <p:nvSpPr>
          <p:cNvPr id="19" name="Shape 10">
            <a:extLst>
              <a:ext uri="{FF2B5EF4-FFF2-40B4-BE49-F238E27FC236}">
                <a16:creationId xmlns:a16="http://schemas.microsoft.com/office/drawing/2014/main" id="{02B503AC-29E2-71AE-6009-7A4790681054}"/>
              </a:ext>
            </a:extLst>
          </p:cNvPr>
          <p:cNvSpPr/>
          <p:nvPr/>
        </p:nvSpPr>
        <p:spPr>
          <a:xfrm>
            <a:off x="8027811" y="3187742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1C408653-9BB9-C2AA-BBF9-9751CAB0F4F9}"/>
              </a:ext>
            </a:extLst>
          </p:cNvPr>
          <p:cNvSpPr/>
          <p:nvPr/>
        </p:nvSpPr>
        <p:spPr>
          <a:xfrm>
            <a:off x="8168050" y="216389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Grams</a:t>
            </a:r>
            <a:endParaRPr lang="en-US" sz="160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B7544DBD-812F-1AC2-2D1D-E9FCC8811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984" y="2545212"/>
            <a:ext cx="1232452" cy="1232452"/>
          </a:xfrm>
          <a:prstGeom prst="rect">
            <a:avLst/>
          </a:prstGeom>
        </p:spPr>
      </p:pic>
      <p:sp>
        <p:nvSpPr>
          <p:cNvPr id="22" name="Shape 12">
            <a:extLst>
              <a:ext uri="{FF2B5EF4-FFF2-40B4-BE49-F238E27FC236}">
                <a16:creationId xmlns:a16="http://schemas.microsoft.com/office/drawing/2014/main" id="{2EFD002F-023E-59A0-5F4D-B576E94A1E97}"/>
              </a:ext>
            </a:extLst>
          </p:cNvPr>
          <p:cNvSpPr/>
          <p:nvPr/>
        </p:nvSpPr>
        <p:spPr>
          <a:xfrm>
            <a:off x="10156870" y="3197021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1FB9D44C-A62A-D956-7E36-C2E9548FF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4476" y="2797482"/>
            <a:ext cx="821135" cy="821135"/>
          </a:xfrm>
          <a:prstGeom prst="rect">
            <a:avLst/>
          </a:prstGeom>
        </p:spPr>
      </p:pic>
      <p:sp>
        <p:nvSpPr>
          <p:cNvPr id="25" name="Text 13">
            <a:extLst>
              <a:ext uri="{FF2B5EF4-FFF2-40B4-BE49-F238E27FC236}">
                <a16:creationId xmlns:a16="http://schemas.microsoft.com/office/drawing/2014/main" id="{A85E29C9-E1DD-2C0C-0041-1C126E97C53B}"/>
              </a:ext>
            </a:extLst>
          </p:cNvPr>
          <p:cNvSpPr/>
          <p:nvPr/>
        </p:nvSpPr>
        <p:spPr>
          <a:xfrm>
            <a:off x="10124824" y="216389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1600"/>
          </a:p>
        </p:txBody>
      </p:sp>
      <p:pic>
        <p:nvPicPr>
          <p:cNvPr id="33" name="Picture 32" descr="A plate of food with chicken and rice&#10;&#10;AI-generated content may be incorrect.">
            <a:extLst>
              <a:ext uri="{FF2B5EF4-FFF2-40B4-BE49-F238E27FC236}">
                <a16:creationId xmlns:a16="http://schemas.microsoft.com/office/drawing/2014/main" id="{F3FA6971-0682-1514-B459-AFD9BA0D9E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465" y="2619503"/>
            <a:ext cx="1112861" cy="1109323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D2A82399-3E07-C1F5-B846-886C5EE6CA5C}"/>
              </a:ext>
            </a:extLst>
          </p:cNvPr>
          <p:cNvSpPr/>
          <p:nvPr/>
        </p:nvSpPr>
        <p:spPr>
          <a:xfrm>
            <a:off x="518318" y="1406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transformed into model-ready features before estimation.</a:t>
            </a:r>
            <a:endParaRPr lang="en-US" sz="140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C1B2D476-35D1-EE8F-A042-19C9377AB530}"/>
              </a:ext>
            </a:extLst>
          </p:cNvPr>
          <p:cNvSpPr/>
          <p:nvPr/>
        </p:nvSpPr>
        <p:spPr>
          <a:xfrm>
            <a:off x="6778501" y="2755611"/>
            <a:ext cx="904876" cy="904877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C9372B4D-73D7-18A3-3B24-8D8800444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7475" y="2924585"/>
            <a:ext cx="566928" cy="566928"/>
          </a:xfrm>
          <a:prstGeom prst="rect">
            <a:avLst/>
          </a:prstGeom>
        </p:spPr>
      </p:pic>
      <p:sp>
        <p:nvSpPr>
          <p:cNvPr id="39" name="Shape 10">
            <a:extLst>
              <a:ext uri="{FF2B5EF4-FFF2-40B4-BE49-F238E27FC236}">
                <a16:creationId xmlns:a16="http://schemas.microsoft.com/office/drawing/2014/main" id="{B74A4EA3-EBDB-BCF1-D727-E96343BA9A7C}"/>
              </a:ext>
            </a:extLst>
          </p:cNvPr>
          <p:cNvSpPr/>
          <p:nvPr/>
        </p:nvSpPr>
        <p:spPr>
          <a:xfrm>
            <a:off x="5938370" y="3192032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78B94E10-B406-9BCA-4ABD-6E0DE1F07029}"/>
              </a:ext>
            </a:extLst>
          </p:cNvPr>
          <p:cNvSpPr/>
          <p:nvPr/>
        </p:nvSpPr>
        <p:spPr>
          <a:xfrm>
            <a:off x="6537252" y="2136983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60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E2B0B7A8-FBD7-00F5-59F0-11A0D297DA15}"/>
              </a:ext>
            </a:extLst>
          </p:cNvPr>
          <p:cNvSpPr/>
          <p:nvPr/>
        </p:nvSpPr>
        <p:spPr>
          <a:xfrm>
            <a:off x="586027" y="392864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Components</a:t>
            </a:r>
            <a:endParaRPr lang="en-US" sz="160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3502FBA9-6395-F6E0-6378-31A547498827}"/>
              </a:ext>
            </a:extLst>
          </p:cNvPr>
          <p:cNvSpPr/>
          <p:nvPr/>
        </p:nvSpPr>
        <p:spPr>
          <a:xfrm>
            <a:off x="1168608" y="4532003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669C2598-8E3E-A725-E4BE-A43FFEAC7B81}"/>
              </a:ext>
            </a:extLst>
          </p:cNvPr>
          <p:cNvSpPr/>
          <p:nvPr/>
        </p:nvSpPr>
        <p:spPr>
          <a:xfrm>
            <a:off x="1369776" y="4733171"/>
            <a:ext cx="502920" cy="50292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769E1929-9882-3B13-D8EA-781215020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8648" y="4852043"/>
            <a:ext cx="265176" cy="265176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FA98ACC4-F2F9-E366-202C-B9CBC8C50D71}"/>
              </a:ext>
            </a:extLst>
          </p:cNvPr>
          <p:cNvSpPr/>
          <p:nvPr/>
        </p:nvSpPr>
        <p:spPr>
          <a:xfrm>
            <a:off x="1369776" y="5309243"/>
            <a:ext cx="221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FastSAM</a:t>
            </a:r>
            <a:endParaRPr lang="en-US" sz="145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46917664-7D9D-72D1-C1EF-8573E19CADDD}"/>
              </a:ext>
            </a:extLst>
          </p:cNvPr>
          <p:cNvSpPr/>
          <p:nvPr/>
        </p:nvSpPr>
        <p:spPr>
          <a:xfrm>
            <a:off x="1369776" y="5702435"/>
            <a:ext cx="221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individual food items on the plate.</a:t>
            </a:r>
            <a:endParaRPr lang="en-US" sz="1050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9E413160-712F-AA88-1383-EC8D7545B4E9}"/>
              </a:ext>
            </a:extLst>
          </p:cNvPr>
          <p:cNvSpPr/>
          <p:nvPr/>
        </p:nvSpPr>
        <p:spPr>
          <a:xfrm>
            <a:off x="4907136" y="453875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B6E33207-3298-098D-0931-3B187DA1CE77}"/>
              </a:ext>
            </a:extLst>
          </p:cNvPr>
          <p:cNvSpPr/>
          <p:nvPr/>
        </p:nvSpPr>
        <p:spPr>
          <a:xfrm>
            <a:off x="5108304" y="4739918"/>
            <a:ext cx="502920" cy="50292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B225716A-2534-A039-7928-26F2FBA1C4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7176" y="4858790"/>
            <a:ext cx="265176" cy="265176"/>
          </a:xfrm>
          <a:prstGeom prst="rect">
            <a:avLst/>
          </a:prstGeom>
        </p:spPr>
      </p:pic>
      <p:sp>
        <p:nvSpPr>
          <p:cNvPr id="50" name="Text 28">
            <a:extLst>
              <a:ext uri="{FF2B5EF4-FFF2-40B4-BE49-F238E27FC236}">
                <a16:creationId xmlns:a16="http://schemas.microsoft.com/office/drawing/2014/main" id="{21593FDF-2F9F-F2E8-40CE-92ADB386460E}"/>
              </a:ext>
            </a:extLst>
          </p:cNvPr>
          <p:cNvSpPr/>
          <p:nvPr/>
        </p:nvSpPr>
        <p:spPr>
          <a:xfrm>
            <a:off x="5108304" y="5315990"/>
            <a:ext cx="221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45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CED4740D-7E1B-CEAA-19BE-6D71B6371758}"/>
              </a:ext>
            </a:extLst>
          </p:cNvPr>
          <p:cNvSpPr/>
          <p:nvPr/>
        </p:nvSpPr>
        <p:spPr>
          <a:xfrm>
            <a:off x="5108304" y="5709182"/>
            <a:ext cx="221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/ filters food classes by semantic similarity.</a:t>
            </a:r>
            <a:endParaRPr lang="en-US" sz="1050"/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5C0B347E-7423-B264-43BE-1D326F7B47C9}"/>
              </a:ext>
            </a:extLst>
          </p:cNvPr>
          <p:cNvSpPr/>
          <p:nvPr/>
        </p:nvSpPr>
        <p:spPr>
          <a:xfrm>
            <a:off x="8645664" y="4520169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75FECF52-4165-824D-1B10-D64592D470FB}"/>
              </a:ext>
            </a:extLst>
          </p:cNvPr>
          <p:cNvSpPr/>
          <p:nvPr/>
        </p:nvSpPr>
        <p:spPr>
          <a:xfrm>
            <a:off x="8846832" y="4721337"/>
            <a:ext cx="502920" cy="50292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4" name="Image 8" descr="preencoded.png">
            <a:extLst>
              <a:ext uri="{FF2B5EF4-FFF2-40B4-BE49-F238E27FC236}">
                <a16:creationId xmlns:a16="http://schemas.microsoft.com/office/drawing/2014/main" id="{E1265CC7-49B1-7E6D-436D-AC9FED1964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5704" y="4840209"/>
            <a:ext cx="265176" cy="265176"/>
          </a:xfrm>
          <a:prstGeom prst="rect">
            <a:avLst/>
          </a:prstGeom>
        </p:spPr>
      </p:pic>
      <p:sp>
        <p:nvSpPr>
          <p:cNvPr id="55" name="Text 32">
            <a:extLst>
              <a:ext uri="{FF2B5EF4-FFF2-40B4-BE49-F238E27FC236}">
                <a16:creationId xmlns:a16="http://schemas.microsoft.com/office/drawing/2014/main" id="{A8EA72AB-B219-5506-4852-1E59922C8B43}"/>
              </a:ext>
            </a:extLst>
          </p:cNvPr>
          <p:cNvSpPr/>
          <p:nvPr/>
        </p:nvSpPr>
        <p:spPr>
          <a:xfrm>
            <a:off x="8846832" y="5297409"/>
            <a:ext cx="221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45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EA88B68E-854E-0B9A-D7D3-13B3237A9F87}"/>
              </a:ext>
            </a:extLst>
          </p:cNvPr>
          <p:cNvSpPr/>
          <p:nvPr/>
        </p:nvSpPr>
        <p:spPr>
          <a:xfrm>
            <a:off x="8846832" y="5690601"/>
            <a:ext cx="221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fallback using area_cm2, height_cm, area_x_height.</a:t>
            </a:r>
            <a:endParaRPr lang="en-US" sz="105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1E06F2D-3AC2-69EE-847F-E7AC021C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51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3C69-AFA8-7152-E960-851FD0FB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1107996"/>
          </a:xfrm>
        </p:spPr>
        <p:txBody>
          <a:bodyPr/>
          <a:lstStyle/>
          <a:p>
            <a:r>
              <a:rPr lang="en-US" sz="32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br>
              <a:rPr lang="en-US" sz="3200"/>
            </a:br>
            <a:br>
              <a:rPr lang="en-US" sz="2400"/>
            </a:b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2D04E-49E6-3C24-E45F-B1373014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DD82A-5A66-E54A-6F37-36AA75FD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30905B0-5838-B212-92B3-D9EFF2CFFA82}"/>
              </a:ext>
            </a:extLst>
          </p:cNvPr>
          <p:cNvSpPr/>
          <p:nvPr/>
        </p:nvSpPr>
        <p:spPr>
          <a:xfrm>
            <a:off x="518318" y="140918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works, but performance depends strongly on image quality and viewpoint.</a:t>
            </a:r>
            <a:endParaRPr lang="en-US" sz="140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7DF5CDB-06ED-48A6-E7F2-4942630E82AE}"/>
              </a:ext>
            </a:extLst>
          </p:cNvPr>
          <p:cNvSpPr/>
          <p:nvPr/>
        </p:nvSpPr>
        <p:spPr>
          <a:xfrm>
            <a:off x="586552" y="185411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00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8AC3A0BF-7372-C862-D641-D566BC4FF95F}"/>
              </a:ext>
            </a:extLst>
          </p:cNvPr>
          <p:cNvSpPr/>
          <p:nvPr/>
        </p:nvSpPr>
        <p:spPr>
          <a:xfrm>
            <a:off x="518318" y="2323580"/>
            <a:ext cx="5469732" cy="3433261"/>
          </a:xfrm>
          <a:prstGeom prst="roundRect">
            <a:avLst>
              <a:gd name="adj" fmla="val 3137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59B3EB7-37FD-3D8F-E5A5-6111316DAEA6}"/>
              </a:ext>
            </a:extLst>
          </p:cNvPr>
          <p:cNvSpPr/>
          <p:nvPr/>
        </p:nvSpPr>
        <p:spPr>
          <a:xfrm>
            <a:off x="774350" y="2488173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by validation strategy</a:t>
            </a:r>
            <a:endParaRPr lang="en-US" sz="160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2A2CFAB5-CD78-8B9F-40FD-B28AF145D1C5}"/>
              </a:ext>
            </a:extLst>
          </p:cNvPr>
          <p:cNvSpPr/>
          <p:nvPr/>
        </p:nvSpPr>
        <p:spPr>
          <a:xfrm>
            <a:off x="800136" y="4890143"/>
            <a:ext cx="4578688" cy="29470"/>
          </a:xfrm>
          <a:prstGeom prst="line">
            <a:avLst/>
          </a:prstGeom>
          <a:noFill/>
          <a:ln w="12700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3FC7F2FC-E613-7A85-4A87-1D1DDEE0E669}"/>
              </a:ext>
            </a:extLst>
          </p:cNvPr>
          <p:cNvSpPr/>
          <p:nvPr/>
        </p:nvSpPr>
        <p:spPr>
          <a:xfrm>
            <a:off x="1782536" y="4104216"/>
            <a:ext cx="914400" cy="785927"/>
          </a:xfrm>
          <a:prstGeom prst="rect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B34D33A-7D5B-93DB-D9CA-5D086A184EA2}"/>
              </a:ext>
            </a:extLst>
          </p:cNvPr>
          <p:cNvSpPr/>
          <p:nvPr/>
        </p:nvSpPr>
        <p:spPr>
          <a:xfrm>
            <a:off x="1599656" y="3811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160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74271F24-625F-85BA-E69A-4D15DFCBC8E2}"/>
              </a:ext>
            </a:extLst>
          </p:cNvPr>
          <p:cNvSpPr/>
          <p:nvPr/>
        </p:nvSpPr>
        <p:spPr>
          <a:xfrm>
            <a:off x="1615122" y="519189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KFold</a:t>
            </a:r>
            <a:endParaRPr lang="en-US" sz="125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FB8BAFC8-AAD5-2F24-F7F8-BAFE53AA1CB8}"/>
              </a:ext>
            </a:extLst>
          </p:cNvPr>
          <p:cNvSpPr/>
          <p:nvPr/>
        </p:nvSpPr>
        <p:spPr>
          <a:xfrm>
            <a:off x="3602597" y="3824860"/>
            <a:ext cx="914400" cy="1078078"/>
          </a:xfrm>
          <a:prstGeom prst="rect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20C757F-22BE-91B2-1305-1FFF93E6964E}"/>
              </a:ext>
            </a:extLst>
          </p:cNvPr>
          <p:cNvSpPr/>
          <p:nvPr/>
        </p:nvSpPr>
        <p:spPr>
          <a:xfrm>
            <a:off x="3463619" y="350315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</a:t>
            </a:r>
            <a:endParaRPr lang="en-US" sz="160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6FF7662-2FEE-6C9F-B3D4-48A01AB5C8D1}"/>
              </a:ext>
            </a:extLst>
          </p:cNvPr>
          <p:cNvSpPr/>
          <p:nvPr/>
        </p:nvSpPr>
        <p:spPr>
          <a:xfrm>
            <a:off x="3336611" y="5146203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food type)</a:t>
            </a:r>
            <a:endParaRPr lang="en-US" sz="115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02F9921-CAD8-790F-489E-B24C85311518}"/>
              </a:ext>
            </a:extLst>
          </p:cNvPr>
          <p:cNvSpPr/>
          <p:nvPr/>
        </p:nvSpPr>
        <p:spPr>
          <a:xfrm>
            <a:off x="6870708" y="193827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02DEAFD9-FBB5-3D32-387B-1FA20C6DBB69}"/>
              </a:ext>
            </a:extLst>
          </p:cNvPr>
          <p:cNvSpPr/>
          <p:nvPr/>
        </p:nvSpPr>
        <p:spPr>
          <a:xfrm>
            <a:off x="6870708" y="2584150"/>
            <a:ext cx="4532395" cy="613175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7343DEBD-0F8A-7082-1783-0DEB7F937319}"/>
              </a:ext>
            </a:extLst>
          </p:cNvPr>
          <p:cNvSpPr/>
          <p:nvPr/>
        </p:nvSpPr>
        <p:spPr>
          <a:xfrm>
            <a:off x="6998725" y="2680197"/>
            <a:ext cx="384048" cy="384048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5C2D8307-C96E-9237-072C-2577A8A43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021" y="2762493"/>
            <a:ext cx="219456" cy="219456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0D4637CD-9D31-C66F-71C6-986700E49383}"/>
              </a:ext>
            </a:extLst>
          </p:cNvPr>
          <p:cNvSpPr/>
          <p:nvPr/>
        </p:nvSpPr>
        <p:spPr>
          <a:xfrm>
            <a:off x="7510790" y="258415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quality</a:t>
            </a:r>
            <a:endParaRPr lang="en-US" sz="160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A9FC022B-144E-5FE2-2A1F-ABDE23785215}"/>
              </a:ext>
            </a:extLst>
          </p:cNvPr>
          <p:cNvSpPr/>
          <p:nvPr/>
        </p:nvSpPr>
        <p:spPr>
          <a:xfrm>
            <a:off x="6870708" y="3512758"/>
            <a:ext cx="4532396" cy="650500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81D4CEBD-0B8E-54FF-8C8D-674FCB36275E}"/>
              </a:ext>
            </a:extLst>
          </p:cNvPr>
          <p:cNvSpPr/>
          <p:nvPr/>
        </p:nvSpPr>
        <p:spPr>
          <a:xfrm>
            <a:off x="6998725" y="3645967"/>
            <a:ext cx="384048" cy="384048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19B22444-AB69-0B02-72DD-BCC4BD433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021" y="3728263"/>
            <a:ext cx="219456" cy="219456"/>
          </a:xfrm>
          <a:prstGeom prst="rect">
            <a:avLst/>
          </a:prstGeom>
        </p:spPr>
      </p:pic>
      <p:sp>
        <p:nvSpPr>
          <p:cNvPr id="41" name="Text 21">
            <a:extLst>
              <a:ext uri="{FF2B5EF4-FFF2-40B4-BE49-F238E27FC236}">
                <a16:creationId xmlns:a16="http://schemas.microsoft.com/office/drawing/2014/main" id="{7F3972DB-2A7F-A90A-5143-3FB6F9BAF95B}"/>
              </a:ext>
            </a:extLst>
          </p:cNvPr>
          <p:cNvSpPr/>
          <p:nvPr/>
        </p:nvSpPr>
        <p:spPr>
          <a:xfrm>
            <a:off x="7687467" y="35545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errors</a:t>
            </a:r>
            <a:endParaRPr lang="en-US" sz="160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57F870FD-BD92-95FB-9D24-428D83D042F1}"/>
              </a:ext>
            </a:extLst>
          </p:cNvPr>
          <p:cNvSpPr/>
          <p:nvPr/>
        </p:nvSpPr>
        <p:spPr>
          <a:xfrm>
            <a:off x="6870709" y="4478691"/>
            <a:ext cx="4532396" cy="640193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358AF16-CC15-3344-1A4B-783A841441D4}"/>
              </a:ext>
            </a:extLst>
          </p:cNvPr>
          <p:cNvSpPr/>
          <p:nvPr/>
        </p:nvSpPr>
        <p:spPr>
          <a:xfrm>
            <a:off x="6998725" y="4601186"/>
            <a:ext cx="384048" cy="384048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7EFDE517-E2C4-57C4-2417-6DBBE0801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021" y="4683482"/>
            <a:ext cx="219456" cy="219456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23CB165C-C97D-E445-5265-1F22205C6664}"/>
              </a:ext>
            </a:extLst>
          </p:cNvPr>
          <p:cNvSpPr/>
          <p:nvPr/>
        </p:nvSpPr>
        <p:spPr>
          <a:xfrm>
            <a:off x="7559566" y="450974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estimation</a:t>
            </a:r>
            <a:endParaRPr lang="en-US" sz="1600"/>
          </a:p>
        </p:txBody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05B32EFF-4F8E-96D6-E283-E6D5E619081B}"/>
              </a:ext>
            </a:extLst>
          </p:cNvPr>
          <p:cNvSpPr/>
          <p:nvPr/>
        </p:nvSpPr>
        <p:spPr>
          <a:xfrm>
            <a:off x="6870708" y="5338227"/>
            <a:ext cx="4532397" cy="793632"/>
          </a:xfrm>
          <a:prstGeom prst="roundRect">
            <a:avLst>
              <a:gd name="adj" fmla="val 9677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82F8E5B6-3EF0-2659-F9CE-D2AE452F259B}"/>
              </a:ext>
            </a:extLst>
          </p:cNvPr>
          <p:cNvSpPr/>
          <p:nvPr/>
        </p:nvSpPr>
        <p:spPr>
          <a:xfrm>
            <a:off x="6998725" y="5557683"/>
            <a:ext cx="384048" cy="384048"/>
          </a:xfrm>
          <a:prstGeom prst="ellipse">
            <a:avLst/>
          </a:prstGeom>
          <a:solidFill>
            <a:srgbClr val="FBEAEA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3D0D0042-E8BE-50E4-FA92-8D28C0DCA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021" y="5639979"/>
            <a:ext cx="219456" cy="219456"/>
          </a:xfrm>
          <a:prstGeom prst="rect">
            <a:avLst/>
          </a:prstGeom>
        </p:spPr>
      </p:pic>
      <p:sp>
        <p:nvSpPr>
          <p:cNvPr id="49" name="Text 27">
            <a:extLst>
              <a:ext uri="{FF2B5EF4-FFF2-40B4-BE49-F238E27FC236}">
                <a16:creationId xmlns:a16="http://schemas.microsoft.com/office/drawing/2014/main" id="{2E9E093E-F259-F8D1-8556-24BEDD33FC0A}"/>
              </a:ext>
            </a:extLst>
          </p:cNvPr>
          <p:cNvSpPr/>
          <p:nvPr/>
        </p:nvSpPr>
        <p:spPr>
          <a:xfrm>
            <a:off x="7510790" y="5448819"/>
            <a:ext cx="3644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volume without side image</a:t>
            </a:r>
            <a:endParaRPr lang="en-US" sz="160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C519A86-EABE-E34F-08B5-8CEE883D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819104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Wirtschafts- und Sozialwissenschaften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579063-A1CB-4445-8F6D-83E2273A52F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1ca03af-e18f-452b-9368-684705dbb10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5620EC9DC3BAC4D8B20F9A82957A957" ma:contentTypeVersion="8" ma:contentTypeDescription="Ein neues Dokument erstellen." ma:contentTypeScope="" ma:versionID="0e17bd01eb9f13f3fe1cfaf715f71b3d">
  <xsd:schema xmlns:xsd="http://www.w3.org/2001/XMLSchema" xmlns:xs="http://www.w3.org/2001/XMLSchema" xmlns:p="http://schemas.microsoft.com/office/2006/metadata/properties" xmlns:ns2="5cb36d9e-12c2-49e8-923d-f39da3795215" targetNamespace="http://schemas.microsoft.com/office/2006/metadata/properties" ma:root="true" ma:fieldsID="83445ca1770ba9007debd9fd0ba49603" ns2:_="">
    <xsd:import namespace="5cb36d9e-12c2-49e8-923d-f39da3795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36d9e-12c2-49e8-923d-f39da3795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2487FF-1420-461B-8A91-F4CCB05476F5}">
  <ds:schemaRefs>
    <ds:schemaRef ds:uri="5cb36d9e-12c2-49e8-923d-f39da37952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5cb36d9e-12c2-49e8-923d-f39da37952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5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FAU - Wirtschafts- und Sozialwissenschaften</vt:lpstr>
      <vt:lpstr>Food Volume &amp; Calorie Estimation</vt:lpstr>
      <vt:lpstr>PowerPoint-Präsentation</vt:lpstr>
      <vt:lpstr>Input Data &amp; Challenge  </vt:lpstr>
      <vt:lpstr>CRISP-DM Pipeline  </vt:lpstr>
      <vt:lpstr>Evaluation Results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revision>4</cp:revision>
  <dcterms:created xsi:type="dcterms:W3CDTF">2021-11-18T07:49:57Z</dcterms:created>
  <dcterms:modified xsi:type="dcterms:W3CDTF">2026-06-26T09:37:38Z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0x010100D5620EC9DC3BAC4D8B20F9A82957A957</vt:lpwstr>
  </property>
</Properties>
</file>